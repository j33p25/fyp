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ero Bold" charset="1" panose="00000500000000000000"/>
      <p:regular r:id="rId20"/>
    </p:embeddedFont>
    <p:embeddedFont>
      <p:font typeface="Poppins" charset="1" panose="00000500000000000000"/>
      <p:regular r:id="rId21"/>
    </p:embeddedFont>
    <p:embeddedFont>
      <p:font typeface="Poppins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8477552" y="3055935"/>
            <a:ext cx="1332896" cy="1342661"/>
          </a:xfrm>
          <a:custGeom>
            <a:avLst/>
            <a:gdLst/>
            <a:ahLst/>
            <a:cxnLst/>
            <a:rect r="r" b="b" t="t" l="l"/>
            <a:pathLst>
              <a:path h="1342661" w="1332896">
                <a:moveTo>
                  <a:pt x="0" y="0"/>
                </a:moveTo>
                <a:lnTo>
                  <a:pt x="1332896" y="0"/>
                </a:lnTo>
                <a:lnTo>
                  <a:pt x="1332896" y="1342660"/>
                </a:lnTo>
                <a:lnTo>
                  <a:pt x="0" y="13426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204216" y="4737229"/>
            <a:ext cx="16305533" cy="1385296"/>
          </a:xfrm>
          <a:prstGeom prst="rect">
            <a:avLst/>
          </a:prstGeom>
        </p:spPr>
        <p:txBody>
          <a:bodyPr anchor="t" rtlCol="false" tIns="0" lIns="0" bIns="0" rIns="0">
            <a:spAutoFit/>
          </a:bodyPr>
          <a:lstStyle/>
          <a:p>
            <a:pPr algn="ctr">
              <a:lnSpc>
                <a:spcPts val="5574"/>
              </a:lnSpc>
              <a:spcBef>
                <a:spcPct val="0"/>
              </a:spcBef>
            </a:pPr>
            <a:r>
              <a:rPr lang="en-US" sz="3981">
                <a:solidFill>
                  <a:srgbClr val="FFFFFF"/>
                </a:solidFill>
                <a:latin typeface="Hero Bold"/>
                <a:ea typeface="Hero Bold"/>
                <a:cs typeface="Hero Bold"/>
                <a:sym typeface="Hero Bold"/>
              </a:rPr>
              <a:t>THERMAL-CARB</a:t>
            </a:r>
            <a:r>
              <a:rPr lang="en-US" sz="3981">
                <a:solidFill>
                  <a:srgbClr val="FFFFFF"/>
                </a:solidFill>
                <a:latin typeface="Hero Bold"/>
                <a:ea typeface="Hero Bold"/>
                <a:cs typeface="Hero Bold"/>
                <a:sym typeface="Hero Bold"/>
              </a:rPr>
              <a:t>ON-AWARE DYNAMIC SCHEDULING IN KUBERNETES FOR REDUCED GRID AND FACILITY-LEVEL EMISSIONS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45531"/>
            <a:ext cx="12477786" cy="1194217"/>
          </a:xfrm>
          <a:prstGeom prst="rect">
            <a:avLst/>
          </a:prstGeom>
        </p:spPr>
        <p:txBody>
          <a:bodyPr anchor="t" rtlCol="false" tIns="0" lIns="0" bIns="0" rIns="0">
            <a:spAutoFit/>
          </a:bodyPr>
          <a:lstStyle/>
          <a:p>
            <a:pPr algn="l">
              <a:lnSpc>
                <a:spcPts val="9061"/>
              </a:lnSpc>
            </a:pPr>
            <a:r>
              <a:rPr lang="en-US" sz="9061">
                <a:solidFill>
                  <a:srgbClr val="2D2D2D"/>
                </a:solidFill>
                <a:latin typeface="Hero Bold"/>
                <a:ea typeface="Hero Bold"/>
                <a:cs typeface="Hero Bold"/>
                <a:sym typeface="Hero Bold"/>
              </a:rPr>
              <a:t>PROBLEM STATEMENT</a:t>
            </a:r>
          </a:p>
        </p:txBody>
      </p:sp>
      <p:sp>
        <p:nvSpPr>
          <p:cNvPr name="TextBox 3" id="3"/>
          <p:cNvSpPr txBox="true"/>
          <p:nvPr/>
        </p:nvSpPr>
        <p:spPr>
          <a:xfrm rot="0">
            <a:off x="1028700" y="2383669"/>
            <a:ext cx="16230600" cy="7074905"/>
          </a:xfrm>
          <a:prstGeom prst="rect">
            <a:avLst/>
          </a:prstGeom>
        </p:spPr>
        <p:txBody>
          <a:bodyPr anchor="t" rtlCol="false" tIns="0" lIns="0" bIns="0" rIns="0">
            <a:spAutoFit/>
          </a:bodyPr>
          <a:lstStyle/>
          <a:p>
            <a:pPr algn="just">
              <a:lnSpc>
                <a:spcPts val="4319"/>
              </a:lnSpc>
            </a:pPr>
            <a:r>
              <a:rPr lang="en-US" sz="3085">
                <a:solidFill>
                  <a:srgbClr val="2D2D2D"/>
                </a:solidFill>
                <a:latin typeface="Poppins"/>
                <a:ea typeface="Poppins"/>
                <a:cs typeface="Poppins"/>
                <a:sym typeface="Poppins"/>
              </a:rPr>
              <a:t>The rapid expansion of AI and LLM technologies is driving an unsustainable surge in data center electricity use—projected to jump from 200 TWh in 2022 to over 1000 TWh by 2030. This positions the tech industry as a primary contributor to global greenhouse gas emissions.</a:t>
            </a:r>
          </a:p>
          <a:p>
            <a:pPr algn="just">
              <a:lnSpc>
                <a:spcPts val="4319"/>
              </a:lnSpc>
            </a:pPr>
          </a:p>
          <a:p>
            <a:pPr algn="just">
              <a:lnSpc>
                <a:spcPts val="4319"/>
              </a:lnSpc>
            </a:pPr>
            <a:r>
              <a:rPr lang="en-US" sz="3085">
                <a:solidFill>
                  <a:srgbClr val="2D2D2D"/>
                </a:solidFill>
                <a:latin typeface="Poppins"/>
                <a:ea typeface="Poppins"/>
                <a:cs typeface="Poppins"/>
                <a:sym typeface="Poppins"/>
              </a:rPr>
              <a:t>Existing "carbon-aware" solutions attempt to mitigate these emissions by shifting tasks to renewable energy zones, but they treat AI models rigidly and completely ignore the intense, localized thermal spikes these specific computations generate.</a:t>
            </a:r>
          </a:p>
          <a:p>
            <a:pPr algn="just">
              <a:lnSpc>
                <a:spcPts val="4319"/>
              </a:lnSpc>
            </a:pPr>
          </a:p>
          <a:p>
            <a:pPr algn="just">
              <a:lnSpc>
                <a:spcPts val="4319"/>
              </a:lnSpc>
              <a:spcBef>
                <a:spcPct val="0"/>
              </a:spcBef>
            </a:pPr>
            <a:r>
              <a:rPr lang="en-US" sz="3085">
                <a:solidFill>
                  <a:srgbClr val="2D2D2D"/>
                </a:solidFill>
                <a:latin typeface="Poppins"/>
                <a:ea typeface="Poppins"/>
                <a:cs typeface="Poppins"/>
                <a:sym typeface="Poppins"/>
              </a:rPr>
              <a:t>Routing heavy AI workloads without thermal awareness forces the destination data center’s cooling infrastructure to run at maximum capacity. This severe secondary energy drain completely cancels out any theoretical carbon reduction gained from the initial workload shift.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36006"/>
            <a:ext cx="14063506" cy="1112559"/>
          </a:xfrm>
          <a:prstGeom prst="rect">
            <a:avLst/>
          </a:prstGeom>
        </p:spPr>
        <p:txBody>
          <a:bodyPr anchor="t" rtlCol="false" tIns="0" lIns="0" bIns="0" rIns="0">
            <a:spAutoFit/>
          </a:bodyPr>
          <a:lstStyle/>
          <a:p>
            <a:pPr algn="l">
              <a:lnSpc>
                <a:spcPts val="8456"/>
              </a:lnSpc>
            </a:pPr>
            <a:r>
              <a:rPr lang="en-US" sz="8456">
                <a:solidFill>
                  <a:srgbClr val="2D2D2D"/>
                </a:solidFill>
                <a:latin typeface="Hero Bold"/>
                <a:ea typeface="Hero Bold"/>
                <a:cs typeface="Hero Bold"/>
                <a:sym typeface="Hero Bold"/>
              </a:rPr>
              <a:t>LITERATURE REVIEW</a:t>
            </a:r>
          </a:p>
        </p:txBody>
      </p:sp>
      <p:sp>
        <p:nvSpPr>
          <p:cNvPr name="TextBox 3" id="3"/>
          <p:cNvSpPr txBox="true"/>
          <p:nvPr/>
        </p:nvSpPr>
        <p:spPr>
          <a:xfrm rot="0">
            <a:off x="1116344" y="2297686"/>
            <a:ext cx="16055311" cy="6141464"/>
          </a:xfrm>
          <a:prstGeom prst="rect">
            <a:avLst/>
          </a:prstGeom>
        </p:spPr>
        <p:txBody>
          <a:bodyPr anchor="t" rtlCol="false" tIns="0" lIns="0" bIns="0" rIns="0">
            <a:spAutoFit/>
          </a:bodyPr>
          <a:lstStyle/>
          <a:p>
            <a:pPr algn="just">
              <a:lnSpc>
                <a:spcPts val="3269"/>
              </a:lnSpc>
            </a:pPr>
            <a:r>
              <a:rPr lang="en-US" sz="2335" b="true">
                <a:solidFill>
                  <a:srgbClr val="2D2D2D"/>
                </a:solidFill>
                <a:latin typeface="Poppins Bold"/>
                <a:ea typeface="Poppins Bold"/>
                <a:cs typeface="Poppins Bold"/>
                <a:sym typeface="Poppins Bold"/>
              </a:rPr>
              <a:t>Paper  1 :  Carbon emission-aware job scheduling for Kubernetes deployments</a:t>
            </a:r>
          </a:p>
          <a:p>
            <a:pPr algn="just">
              <a:lnSpc>
                <a:spcPts val="3269"/>
              </a:lnSpc>
            </a:pPr>
          </a:p>
          <a:p>
            <a:pPr algn="just" marL="504147" indent="-252074" lvl="1">
              <a:lnSpc>
                <a:spcPts val="3269"/>
              </a:lnSpc>
              <a:buFont typeface="Arial"/>
              <a:buChar char="•"/>
            </a:pPr>
            <a:r>
              <a:rPr lang="en-US" sz="2335">
                <a:solidFill>
                  <a:srgbClr val="2D2D2D"/>
                </a:solidFill>
                <a:latin typeface="Poppins"/>
                <a:ea typeface="Poppins"/>
                <a:cs typeface="Poppins"/>
                <a:sym typeface="Poppins"/>
              </a:rPr>
              <a:t>Authors &amp; Year: T. Piontek, K. Haghshenas, &amp; M. Aiello (2023)</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Methodology Used:</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Developed a custom Kubernetes Scheduler Extender API.</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Utilized historical grid emission datasets (ElectricityMap) to predict future carbon intensity (gCO_2/kWh).</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Implemented temporal shifting of non-critical workloads to low-carbon time windows while ensuring zero Service Level Agreement (SLA) violations.</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Major Gaps &amp; Limitations:</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Ignores Thermal Impact: Focused strictly on traditional, predictable web applications rather than high-performance AI workloads.</a:t>
            </a:r>
          </a:p>
          <a:p>
            <a:pPr algn="just" marL="1008294" indent="-336098" lvl="2">
              <a:lnSpc>
                <a:spcPts val="3269"/>
              </a:lnSpc>
              <a:spcBef>
                <a:spcPct val="0"/>
              </a:spcBef>
              <a:buFont typeface="Arial"/>
              <a:buChar char="⚬"/>
            </a:pPr>
            <a:r>
              <a:rPr lang="en-US" sz="2335">
                <a:solidFill>
                  <a:srgbClr val="2D2D2D"/>
                </a:solidFill>
                <a:latin typeface="Poppins"/>
                <a:ea typeface="Poppins"/>
                <a:cs typeface="Poppins"/>
                <a:sym typeface="Poppins"/>
              </a:rPr>
              <a:t>Thermal Blind Spot: Explicitly lists the incorporation of internal thermal constraints directly into the workload placement algorithm as future scope—which is the primary gap your project addresses.</a:t>
            </a:r>
          </a:p>
          <a:p>
            <a:pPr algn="just">
              <a:lnSpc>
                <a:spcPts val="326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36006"/>
            <a:ext cx="14063506" cy="1112559"/>
          </a:xfrm>
          <a:prstGeom prst="rect">
            <a:avLst/>
          </a:prstGeom>
        </p:spPr>
        <p:txBody>
          <a:bodyPr anchor="t" rtlCol="false" tIns="0" lIns="0" bIns="0" rIns="0">
            <a:spAutoFit/>
          </a:bodyPr>
          <a:lstStyle/>
          <a:p>
            <a:pPr algn="l">
              <a:lnSpc>
                <a:spcPts val="8456"/>
              </a:lnSpc>
            </a:pPr>
            <a:r>
              <a:rPr lang="en-US" sz="8456">
                <a:solidFill>
                  <a:srgbClr val="2D2D2D"/>
                </a:solidFill>
                <a:latin typeface="Hero Bold"/>
                <a:ea typeface="Hero Bold"/>
                <a:cs typeface="Hero Bold"/>
                <a:sym typeface="Hero Bold"/>
              </a:rPr>
              <a:t>LITERATURE REVIEW</a:t>
            </a:r>
          </a:p>
        </p:txBody>
      </p:sp>
      <p:sp>
        <p:nvSpPr>
          <p:cNvPr name="TextBox 3" id="3"/>
          <p:cNvSpPr txBox="true"/>
          <p:nvPr/>
        </p:nvSpPr>
        <p:spPr>
          <a:xfrm rot="0">
            <a:off x="1116344" y="2297686"/>
            <a:ext cx="16055311" cy="5731889"/>
          </a:xfrm>
          <a:prstGeom prst="rect">
            <a:avLst/>
          </a:prstGeom>
        </p:spPr>
        <p:txBody>
          <a:bodyPr anchor="t" rtlCol="false" tIns="0" lIns="0" bIns="0" rIns="0">
            <a:spAutoFit/>
          </a:bodyPr>
          <a:lstStyle/>
          <a:p>
            <a:pPr algn="just">
              <a:lnSpc>
                <a:spcPts val="3269"/>
              </a:lnSpc>
            </a:pPr>
            <a:r>
              <a:rPr lang="en-US" sz="2335" b="true">
                <a:solidFill>
                  <a:srgbClr val="2D2D2D"/>
                </a:solidFill>
                <a:latin typeface="Poppins Bold"/>
                <a:ea typeface="Poppins Bold"/>
                <a:cs typeface="Poppins Bold"/>
                <a:sym typeface="Poppins Bold"/>
              </a:rPr>
              <a:t>Paper  2:  Kepler: A Framework to Calculate the Energy Consumption of Containerized Applications</a:t>
            </a:r>
          </a:p>
          <a:p>
            <a:pPr algn="just">
              <a:lnSpc>
                <a:spcPts val="3269"/>
              </a:lnSpc>
            </a:pPr>
          </a:p>
          <a:p>
            <a:pPr algn="just" marL="504147" indent="-252074" lvl="1">
              <a:lnSpc>
                <a:spcPts val="3269"/>
              </a:lnSpc>
              <a:buFont typeface="Arial"/>
              <a:buChar char="•"/>
            </a:pPr>
            <a:r>
              <a:rPr lang="en-US" sz="2335">
                <a:solidFill>
                  <a:srgbClr val="2D2D2D"/>
                </a:solidFill>
                <a:latin typeface="Poppins"/>
                <a:ea typeface="Poppins"/>
                <a:cs typeface="Poppins"/>
                <a:sym typeface="Poppins"/>
              </a:rPr>
              <a:t>Authors &amp; Year: M. Amaral et al. [IBM Research] (2023)</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Methodology Used:</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Uses Extended Berkeley Packet Filter (eBPF) routines inside the Linux kernel to hook into hardware performance counters (RAPL, ACPI).</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Ap</a:t>
            </a:r>
            <a:r>
              <a:rPr lang="en-US" sz="2335">
                <a:solidFill>
                  <a:srgbClr val="2D2D2D"/>
                </a:solidFill>
                <a:latin typeface="Poppins"/>
                <a:ea typeface="Poppins"/>
                <a:cs typeface="Poppins"/>
                <a:sym typeface="Poppins"/>
              </a:rPr>
              <a:t>plies machine learning regression models to calculate real-time, pod-level energy consumption and power draw without invasive code changes.</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Major Gaps &amp; Limitations:</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Ve</a:t>
            </a:r>
            <a:r>
              <a:rPr lang="en-US" sz="2335">
                <a:solidFill>
                  <a:srgbClr val="2D2D2D"/>
                </a:solidFill>
                <a:latin typeface="Poppins"/>
                <a:ea typeface="Poppins"/>
                <a:cs typeface="Poppins"/>
                <a:sym typeface="Poppins"/>
              </a:rPr>
              <a:t>ndor Specificity &amp; Lack of Scheduling Integration: Energy estimation models heavily rely on specific vendor hardware counters.</a:t>
            </a:r>
          </a:p>
          <a:p>
            <a:pPr algn="just" marL="1008294" indent="-336098" lvl="2">
              <a:lnSpc>
                <a:spcPts val="3269"/>
              </a:lnSpc>
              <a:spcBef>
                <a:spcPct val="0"/>
              </a:spcBef>
              <a:buFont typeface="Arial"/>
              <a:buChar char="⚬"/>
            </a:pPr>
            <a:r>
              <a:rPr lang="en-US" sz="2335">
                <a:solidFill>
                  <a:srgbClr val="2D2D2D"/>
                </a:solidFill>
                <a:latin typeface="Poppins"/>
                <a:ea typeface="Poppins"/>
                <a:cs typeface="Poppins"/>
                <a:sym typeface="Poppins"/>
              </a:rPr>
              <a:t>No</a:t>
            </a:r>
            <a:r>
              <a:rPr lang="en-US" sz="2335">
                <a:solidFill>
                  <a:srgbClr val="2D2D2D"/>
                </a:solidFill>
                <a:latin typeface="Poppins"/>
                <a:ea typeface="Poppins"/>
                <a:cs typeface="Poppins"/>
                <a:sym typeface="Poppins"/>
              </a:rPr>
              <a:t> Active Control: Kepler acts purely as a passive monitoring system; it does not feed telemetry directly back into a Kubernetes scheduler to trigger dynamic placement or thermal mitigation.</a:t>
            </a:r>
          </a:p>
          <a:p>
            <a:pPr algn="just">
              <a:lnSpc>
                <a:spcPts val="326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36006"/>
            <a:ext cx="14063506" cy="1112559"/>
          </a:xfrm>
          <a:prstGeom prst="rect">
            <a:avLst/>
          </a:prstGeom>
        </p:spPr>
        <p:txBody>
          <a:bodyPr anchor="t" rtlCol="false" tIns="0" lIns="0" bIns="0" rIns="0">
            <a:spAutoFit/>
          </a:bodyPr>
          <a:lstStyle/>
          <a:p>
            <a:pPr algn="l">
              <a:lnSpc>
                <a:spcPts val="8456"/>
              </a:lnSpc>
            </a:pPr>
            <a:r>
              <a:rPr lang="en-US" sz="8456">
                <a:solidFill>
                  <a:srgbClr val="2D2D2D"/>
                </a:solidFill>
                <a:latin typeface="Hero Bold"/>
                <a:ea typeface="Hero Bold"/>
                <a:cs typeface="Hero Bold"/>
                <a:sym typeface="Hero Bold"/>
              </a:rPr>
              <a:t>LITERATURE REVIEW</a:t>
            </a:r>
          </a:p>
        </p:txBody>
      </p:sp>
      <p:sp>
        <p:nvSpPr>
          <p:cNvPr name="TextBox 3" id="3"/>
          <p:cNvSpPr txBox="true"/>
          <p:nvPr/>
        </p:nvSpPr>
        <p:spPr>
          <a:xfrm rot="0">
            <a:off x="1116344" y="2297686"/>
            <a:ext cx="16055311" cy="6551039"/>
          </a:xfrm>
          <a:prstGeom prst="rect">
            <a:avLst/>
          </a:prstGeom>
        </p:spPr>
        <p:txBody>
          <a:bodyPr anchor="t" rtlCol="false" tIns="0" lIns="0" bIns="0" rIns="0">
            <a:spAutoFit/>
          </a:bodyPr>
          <a:lstStyle/>
          <a:p>
            <a:pPr algn="just">
              <a:lnSpc>
                <a:spcPts val="3269"/>
              </a:lnSpc>
            </a:pPr>
            <a:r>
              <a:rPr lang="en-US" sz="2335" b="true">
                <a:solidFill>
                  <a:srgbClr val="2D2D2D"/>
                </a:solidFill>
                <a:latin typeface="Poppins Bold"/>
                <a:ea typeface="Poppins Bold"/>
                <a:cs typeface="Poppins Bold"/>
                <a:sym typeface="Poppins Bold"/>
              </a:rPr>
              <a:t>Paper 3: CarbonEdge: Carbon-Aware Deep Learning Inference Framework for Sustainable Edge Computing</a:t>
            </a:r>
          </a:p>
          <a:p>
            <a:pPr algn="just">
              <a:lnSpc>
                <a:spcPts val="3269"/>
              </a:lnSpc>
            </a:pPr>
          </a:p>
          <a:p>
            <a:pPr algn="just" marL="504147" indent="-252074" lvl="1">
              <a:lnSpc>
                <a:spcPts val="3269"/>
              </a:lnSpc>
              <a:buFont typeface="Arial"/>
              <a:buChar char="•"/>
            </a:pPr>
            <a:r>
              <a:rPr lang="en-US" sz="2335">
                <a:solidFill>
                  <a:srgbClr val="2D2D2D"/>
                </a:solidFill>
                <a:latin typeface="Poppins"/>
                <a:ea typeface="Poppins"/>
                <a:cs typeface="Poppins"/>
                <a:sym typeface="Poppins"/>
              </a:rPr>
              <a:t>Authors &amp; Year: Guilin Zhang, Wulan Guo, Ziqi Tan, Hailong Jiang (2026)</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Methodology Used:</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Created an algorithm that extends standard Kubernetes/edge latency scoring with a dedicated carbon efficiency metric.</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Dyna</a:t>
            </a:r>
            <a:r>
              <a:rPr lang="en-US" sz="2335">
                <a:solidFill>
                  <a:srgbClr val="2D2D2D"/>
                </a:solidFill>
                <a:latin typeface="Poppins"/>
                <a:ea typeface="Poppins"/>
                <a:cs typeface="Poppins"/>
                <a:sym typeface="Poppins"/>
              </a:rPr>
              <a:t>mically lowers the precision (quantizes) deep learning inference models (e.g., MobileNet, EfficientNet) during periods of high grid carbon intensity to reduce device computational load.</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Major Gaps &amp; Limitations:</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Accu</a:t>
            </a:r>
            <a:r>
              <a:rPr lang="en-US" sz="2335">
                <a:solidFill>
                  <a:srgbClr val="2D2D2D"/>
                </a:solidFill>
                <a:latin typeface="Poppins"/>
                <a:ea typeface="Poppins"/>
                <a:cs typeface="Poppins"/>
                <a:sym typeface="Poppins"/>
              </a:rPr>
              <a:t>racy Degradation &amp; Thermal Disregard: Dynamic quantization inherently degrades model prediction accuracy, lacking dynamic safeguard thresholds for latency-critical or mission-critical AI tasks.</a:t>
            </a:r>
          </a:p>
          <a:p>
            <a:pPr algn="just" marL="1008294" indent="-336098" lvl="2">
              <a:lnSpc>
                <a:spcPts val="3269"/>
              </a:lnSpc>
              <a:spcBef>
                <a:spcPct val="0"/>
              </a:spcBef>
              <a:buFont typeface="Arial"/>
              <a:buChar char="⚬"/>
            </a:pPr>
            <a:r>
              <a:rPr lang="en-US" sz="2335">
                <a:solidFill>
                  <a:srgbClr val="2D2D2D"/>
                </a:solidFill>
                <a:latin typeface="Poppins"/>
                <a:ea typeface="Poppins"/>
                <a:cs typeface="Poppins"/>
                <a:sym typeface="Poppins"/>
              </a:rPr>
              <a:t>No </a:t>
            </a:r>
            <a:r>
              <a:rPr lang="en-US" sz="2335">
                <a:solidFill>
                  <a:srgbClr val="2D2D2D"/>
                </a:solidFill>
                <a:latin typeface="Poppins"/>
                <a:ea typeface="Poppins"/>
                <a:cs typeface="Poppins"/>
                <a:sym typeface="Poppins"/>
              </a:rPr>
              <a:t>Thermal Feedback: It evaluates external grid carbon intensity but ignores internal chip temperature and heat spikes on the host device.</a:t>
            </a:r>
          </a:p>
          <a:p>
            <a:pPr algn="just">
              <a:lnSpc>
                <a:spcPts val="326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36006"/>
            <a:ext cx="14063506" cy="1112559"/>
          </a:xfrm>
          <a:prstGeom prst="rect">
            <a:avLst/>
          </a:prstGeom>
        </p:spPr>
        <p:txBody>
          <a:bodyPr anchor="t" rtlCol="false" tIns="0" lIns="0" bIns="0" rIns="0">
            <a:spAutoFit/>
          </a:bodyPr>
          <a:lstStyle/>
          <a:p>
            <a:pPr algn="l">
              <a:lnSpc>
                <a:spcPts val="8456"/>
              </a:lnSpc>
            </a:pPr>
            <a:r>
              <a:rPr lang="en-US" sz="8456">
                <a:solidFill>
                  <a:srgbClr val="2D2D2D"/>
                </a:solidFill>
                <a:latin typeface="Hero Bold"/>
                <a:ea typeface="Hero Bold"/>
                <a:cs typeface="Hero Bold"/>
                <a:sym typeface="Hero Bold"/>
              </a:rPr>
              <a:t>LITERATURE REVIEW</a:t>
            </a:r>
          </a:p>
        </p:txBody>
      </p:sp>
      <p:sp>
        <p:nvSpPr>
          <p:cNvPr name="TextBox 3" id="3"/>
          <p:cNvSpPr txBox="true"/>
          <p:nvPr/>
        </p:nvSpPr>
        <p:spPr>
          <a:xfrm rot="0">
            <a:off x="1116344" y="2297686"/>
            <a:ext cx="15352469" cy="6551039"/>
          </a:xfrm>
          <a:prstGeom prst="rect">
            <a:avLst/>
          </a:prstGeom>
        </p:spPr>
        <p:txBody>
          <a:bodyPr anchor="t" rtlCol="false" tIns="0" lIns="0" bIns="0" rIns="0">
            <a:spAutoFit/>
          </a:bodyPr>
          <a:lstStyle/>
          <a:p>
            <a:pPr algn="just">
              <a:lnSpc>
                <a:spcPts val="3269"/>
              </a:lnSpc>
            </a:pPr>
            <a:r>
              <a:rPr lang="en-US" sz="2335" b="true">
                <a:solidFill>
                  <a:srgbClr val="2D2D2D"/>
                </a:solidFill>
                <a:latin typeface="Poppins Bold"/>
                <a:ea typeface="Poppins Bold"/>
                <a:cs typeface="Poppins Bold"/>
                <a:sym typeface="Poppins Bold"/>
              </a:rPr>
              <a:t>Paper 4: AI-Powered Data Center Power Monitoring: Architectures, Algorithms, and Operational     Intelligence</a:t>
            </a:r>
          </a:p>
          <a:p>
            <a:pPr algn="just">
              <a:lnSpc>
                <a:spcPts val="3269"/>
              </a:lnSpc>
            </a:pPr>
          </a:p>
          <a:p>
            <a:pPr algn="just" marL="504147" indent="-252074" lvl="1">
              <a:lnSpc>
                <a:spcPts val="3269"/>
              </a:lnSpc>
              <a:buFont typeface="Arial"/>
              <a:buChar char="•"/>
            </a:pPr>
            <a:r>
              <a:rPr lang="en-US" sz="2335">
                <a:solidFill>
                  <a:srgbClr val="2D2D2D"/>
                </a:solidFill>
                <a:latin typeface="Poppins"/>
                <a:ea typeface="Poppins"/>
                <a:cs typeface="Poppins"/>
                <a:sym typeface="Poppins"/>
              </a:rPr>
              <a:t>Authors &amp; Year: Ishak H.A. Meddah (2026)</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Methodology </a:t>
            </a:r>
            <a:r>
              <a:rPr lang="en-US" sz="2335">
                <a:solidFill>
                  <a:srgbClr val="2D2D2D"/>
                </a:solidFill>
                <a:latin typeface="Poppins"/>
                <a:ea typeface="Poppins"/>
                <a:cs typeface="Poppins"/>
                <a:sym typeface="Poppins"/>
              </a:rPr>
              <a:t>Used:</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Synthesizes time-series ML models (LSTM, CNN, Transformers) with anomaly detection algorithms (Local Outlier Factor, ECOD) on high-dimensional power and temperature sensor telemetry.</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Leverages Reinforcement Learning (RL) to dynamically adjust data center Computer Room Air Conditioning (CRAC) cooling setpoints.</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Major Gaps &amp; Limitations:</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Facility-Lev</a:t>
            </a:r>
            <a:r>
              <a:rPr lang="en-US" sz="2335">
                <a:solidFill>
                  <a:srgbClr val="2D2D2D"/>
                </a:solidFill>
                <a:latin typeface="Poppins"/>
                <a:ea typeface="Poppins"/>
                <a:cs typeface="Poppins"/>
                <a:sym typeface="Poppins"/>
              </a:rPr>
              <a:t>el vs. Scheduler-Level Isolation: Operates at the infrastructure cooling level rather than addressing the problem at the container orchestration (Kubernetes pod) layer.</a:t>
            </a:r>
          </a:p>
          <a:p>
            <a:pPr algn="just" marL="1008294" indent="-336098" lvl="2">
              <a:lnSpc>
                <a:spcPts val="3269"/>
              </a:lnSpc>
              <a:spcBef>
                <a:spcPct val="0"/>
              </a:spcBef>
              <a:buFont typeface="Arial"/>
              <a:buChar char="⚬"/>
            </a:pPr>
            <a:r>
              <a:rPr lang="en-US" sz="2335">
                <a:solidFill>
                  <a:srgbClr val="2D2D2D"/>
                </a:solidFill>
                <a:latin typeface="Poppins"/>
                <a:ea typeface="Poppins"/>
                <a:cs typeface="Poppins"/>
                <a:sym typeface="Poppins"/>
              </a:rPr>
              <a:t>L</a:t>
            </a:r>
            <a:r>
              <a:rPr lang="en-US" sz="2335">
                <a:solidFill>
                  <a:srgbClr val="2D2D2D"/>
                </a:solidFill>
                <a:latin typeface="Poppins"/>
                <a:ea typeface="Poppins"/>
                <a:cs typeface="Poppins"/>
                <a:sym typeface="Poppins"/>
              </a:rPr>
              <a:t>ack of Explainability: High computational complexity makes real-time, lightweight deployment on resource-constrained edge hardware difficult.</a:t>
            </a:r>
          </a:p>
          <a:p>
            <a:pPr algn="just">
              <a:lnSpc>
                <a:spcPts val="326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36006"/>
            <a:ext cx="14063506" cy="1112559"/>
          </a:xfrm>
          <a:prstGeom prst="rect">
            <a:avLst/>
          </a:prstGeom>
        </p:spPr>
        <p:txBody>
          <a:bodyPr anchor="t" rtlCol="false" tIns="0" lIns="0" bIns="0" rIns="0">
            <a:spAutoFit/>
          </a:bodyPr>
          <a:lstStyle/>
          <a:p>
            <a:pPr algn="l">
              <a:lnSpc>
                <a:spcPts val="8456"/>
              </a:lnSpc>
            </a:pPr>
            <a:r>
              <a:rPr lang="en-US" sz="8456">
                <a:solidFill>
                  <a:srgbClr val="2D2D2D"/>
                </a:solidFill>
                <a:latin typeface="Hero Bold"/>
                <a:ea typeface="Hero Bold"/>
                <a:cs typeface="Hero Bold"/>
                <a:sym typeface="Hero Bold"/>
              </a:rPr>
              <a:t>LITERATURE REVIEW</a:t>
            </a:r>
          </a:p>
        </p:txBody>
      </p:sp>
      <p:sp>
        <p:nvSpPr>
          <p:cNvPr name="TextBox 3" id="3"/>
          <p:cNvSpPr txBox="true"/>
          <p:nvPr/>
        </p:nvSpPr>
        <p:spPr>
          <a:xfrm rot="0">
            <a:off x="1116344" y="2297686"/>
            <a:ext cx="16055311" cy="5731889"/>
          </a:xfrm>
          <a:prstGeom prst="rect">
            <a:avLst/>
          </a:prstGeom>
        </p:spPr>
        <p:txBody>
          <a:bodyPr anchor="t" rtlCol="false" tIns="0" lIns="0" bIns="0" rIns="0">
            <a:spAutoFit/>
          </a:bodyPr>
          <a:lstStyle/>
          <a:p>
            <a:pPr algn="just">
              <a:lnSpc>
                <a:spcPts val="3269"/>
              </a:lnSpc>
            </a:pPr>
            <a:r>
              <a:rPr lang="en-US" sz="2335" b="true">
                <a:solidFill>
                  <a:srgbClr val="2D2D2D"/>
                </a:solidFill>
                <a:latin typeface="Poppins Bold"/>
                <a:ea typeface="Poppins Bold"/>
                <a:cs typeface="Poppins Bold"/>
                <a:sym typeface="Poppins Bold"/>
              </a:rPr>
              <a:t>Paper 5: Cost-Effective Kubernetes at the Edge: A Comparative Analysis of K3s on Raspberry Pi versus Cloud Deployments</a:t>
            </a:r>
          </a:p>
          <a:p>
            <a:pPr algn="just">
              <a:lnSpc>
                <a:spcPts val="3269"/>
              </a:lnSpc>
            </a:pPr>
          </a:p>
          <a:p>
            <a:pPr algn="just" marL="504147" indent="-252074" lvl="1">
              <a:lnSpc>
                <a:spcPts val="3269"/>
              </a:lnSpc>
              <a:buFont typeface="Arial"/>
              <a:buChar char="•"/>
            </a:pPr>
            <a:r>
              <a:rPr lang="en-US" sz="2335">
                <a:solidFill>
                  <a:srgbClr val="2D2D2D"/>
                </a:solidFill>
                <a:latin typeface="Poppins"/>
                <a:ea typeface="Poppins"/>
                <a:cs typeface="Poppins"/>
                <a:sym typeface="Poppins"/>
              </a:rPr>
              <a:t>Authors &amp; Year: S. R. Sankiti et al. (2025)</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Methodology Used:</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De</a:t>
            </a:r>
            <a:r>
              <a:rPr lang="en-US" sz="2335">
                <a:solidFill>
                  <a:srgbClr val="2D2D2D"/>
                </a:solidFill>
                <a:latin typeface="Poppins"/>
                <a:ea typeface="Poppins"/>
                <a:cs typeface="Poppins"/>
                <a:sym typeface="Poppins"/>
              </a:rPr>
              <a:t>ployed and benchmarked K3s across a physical cluster of Raspberry Pi 5 single-board computers.</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Integrated a full cloud-native observability stack (Prometheus, Grafana, Loki) to measure real-time node performance and resource usage against cloud environments.</a:t>
            </a:r>
          </a:p>
          <a:p>
            <a:pPr algn="just" marL="504147" indent="-252074" lvl="1">
              <a:lnSpc>
                <a:spcPts val="3269"/>
              </a:lnSpc>
              <a:buFont typeface="Arial"/>
              <a:buChar char="•"/>
            </a:pPr>
            <a:r>
              <a:rPr lang="en-US" sz="2335">
                <a:solidFill>
                  <a:srgbClr val="2D2D2D"/>
                </a:solidFill>
                <a:latin typeface="Poppins"/>
                <a:ea typeface="Poppins"/>
                <a:cs typeface="Poppins"/>
                <a:sym typeface="Poppins"/>
              </a:rPr>
              <a:t>Major Gaps &amp; Limitations:</a:t>
            </a:r>
          </a:p>
          <a:p>
            <a:pPr algn="just" marL="1008294" indent="-336098" lvl="2">
              <a:lnSpc>
                <a:spcPts val="3269"/>
              </a:lnSpc>
              <a:buFont typeface="Arial"/>
              <a:buChar char="⚬"/>
            </a:pPr>
            <a:r>
              <a:rPr lang="en-US" sz="2335">
                <a:solidFill>
                  <a:srgbClr val="2D2D2D"/>
                </a:solidFill>
                <a:latin typeface="Poppins"/>
                <a:ea typeface="Poppins"/>
                <a:cs typeface="Poppins"/>
                <a:sym typeface="Poppins"/>
              </a:rPr>
              <a:t>Thermal Throttling Bottleneck: Highlights that resource-constrained edge clusters suffer heavily from thermal throttling under sustained compute loads.</a:t>
            </a:r>
          </a:p>
          <a:p>
            <a:pPr algn="just" marL="1008294" indent="-336098" lvl="2">
              <a:lnSpc>
                <a:spcPts val="3269"/>
              </a:lnSpc>
              <a:spcBef>
                <a:spcPct val="0"/>
              </a:spcBef>
              <a:buFont typeface="Arial"/>
              <a:buChar char="⚬"/>
            </a:pPr>
            <a:r>
              <a:rPr lang="en-US" sz="2335">
                <a:solidFill>
                  <a:srgbClr val="2D2D2D"/>
                </a:solidFill>
                <a:latin typeface="Poppins"/>
                <a:ea typeface="Poppins"/>
                <a:cs typeface="Poppins"/>
                <a:sym typeface="Poppins"/>
              </a:rPr>
              <a:t>Passive Obs</a:t>
            </a:r>
            <a:r>
              <a:rPr lang="en-US" sz="2335">
                <a:solidFill>
                  <a:srgbClr val="2D2D2D"/>
                </a:solidFill>
                <a:latin typeface="Poppins"/>
                <a:ea typeface="Poppins"/>
                <a:cs typeface="Poppins"/>
                <a:sym typeface="Poppins"/>
              </a:rPr>
              <a:t>ervation: The paper only evaluates performance; it does not implement an active, thermal-aware orchestrator to prevent nodes from hitting thermal limits.</a:t>
            </a:r>
          </a:p>
          <a:p>
            <a:pPr algn="just">
              <a:lnSpc>
                <a:spcPts val="326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36369" y="1733171"/>
            <a:ext cx="9815263" cy="8085323"/>
          </a:xfrm>
          <a:custGeom>
            <a:avLst/>
            <a:gdLst/>
            <a:ahLst/>
            <a:cxnLst/>
            <a:rect r="r" b="b" t="t" l="l"/>
            <a:pathLst>
              <a:path h="8085323" w="9815263">
                <a:moveTo>
                  <a:pt x="0" y="0"/>
                </a:moveTo>
                <a:lnTo>
                  <a:pt x="9815262" y="0"/>
                </a:lnTo>
                <a:lnTo>
                  <a:pt x="9815262" y="8085323"/>
                </a:lnTo>
                <a:lnTo>
                  <a:pt x="0" y="8085323"/>
                </a:lnTo>
                <a:lnTo>
                  <a:pt x="0" y="0"/>
                </a:lnTo>
                <a:close/>
              </a:path>
            </a:pathLst>
          </a:custGeom>
          <a:blipFill>
            <a:blip r:embed="rId2"/>
            <a:stretch>
              <a:fillRect l="0" t="0" r="0" b="0"/>
            </a:stretch>
          </a:blipFill>
        </p:spPr>
      </p:sp>
      <p:sp>
        <p:nvSpPr>
          <p:cNvPr name="TextBox 3" id="3"/>
          <p:cNvSpPr txBox="true"/>
          <p:nvPr/>
        </p:nvSpPr>
        <p:spPr>
          <a:xfrm rot="0">
            <a:off x="929848" y="569442"/>
            <a:ext cx="11119977" cy="1163728"/>
          </a:xfrm>
          <a:prstGeom prst="rect">
            <a:avLst/>
          </a:prstGeom>
        </p:spPr>
        <p:txBody>
          <a:bodyPr anchor="t" rtlCol="false" tIns="0" lIns="0" bIns="0" rIns="0">
            <a:spAutoFit/>
          </a:bodyPr>
          <a:lstStyle/>
          <a:p>
            <a:pPr algn="l">
              <a:lnSpc>
                <a:spcPts val="8732"/>
              </a:lnSpc>
            </a:pPr>
            <a:r>
              <a:rPr lang="en-US" sz="8732">
                <a:solidFill>
                  <a:srgbClr val="2D2D2D"/>
                </a:solidFill>
                <a:latin typeface="Hero Bold"/>
                <a:ea typeface="Hero Bold"/>
                <a:cs typeface="Hero Bold"/>
                <a:sym typeface="Hero Bold"/>
              </a:rPr>
              <a:t>PROPOSED WORK</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29848" y="569442"/>
            <a:ext cx="11119977" cy="1163728"/>
          </a:xfrm>
          <a:prstGeom prst="rect">
            <a:avLst/>
          </a:prstGeom>
        </p:spPr>
        <p:txBody>
          <a:bodyPr anchor="t" rtlCol="false" tIns="0" lIns="0" bIns="0" rIns="0">
            <a:spAutoFit/>
          </a:bodyPr>
          <a:lstStyle/>
          <a:p>
            <a:pPr algn="l">
              <a:lnSpc>
                <a:spcPts val="8732"/>
              </a:lnSpc>
            </a:pPr>
            <a:r>
              <a:rPr lang="en-US" sz="8732">
                <a:solidFill>
                  <a:srgbClr val="2D2D2D"/>
                </a:solidFill>
                <a:latin typeface="Hero Bold"/>
                <a:ea typeface="Hero Bold"/>
                <a:cs typeface="Hero Bold"/>
                <a:sym typeface="Hero Bold"/>
              </a:rPr>
              <a:t>PROPOSED WORK</a:t>
            </a:r>
          </a:p>
        </p:txBody>
      </p:sp>
      <p:sp>
        <p:nvSpPr>
          <p:cNvPr name="TextBox 3" id="3"/>
          <p:cNvSpPr txBox="true"/>
          <p:nvPr/>
        </p:nvSpPr>
        <p:spPr>
          <a:xfrm rot="0">
            <a:off x="846365" y="2007268"/>
            <a:ext cx="16412935" cy="7789164"/>
          </a:xfrm>
          <a:prstGeom prst="rect">
            <a:avLst/>
          </a:prstGeom>
        </p:spPr>
        <p:txBody>
          <a:bodyPr anchor="t" rtlCol="false" tIns="0" lIns="0" bIns="0" rIns="0">
            <a:spAutoFit/>
          </a:bodyPr>
          <a:lstStyle/>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Spatio-Temporal-Thermal Orchestrator:</a:t>
            </a:r>
            <a:r>
              <a:rPr lang="en-US" sz="2340">
                <a:solidFill>
                  <a:srgbClr val="2D2D2D"/>
                </a:solidFill>
                <a:latin typeface="Poppins"/>
                <a:ea typeface="Poppins"/>
                <a:cs typeface="Poppins"/>
                <a:sym typeface="Poppins"/>
              </a:rPr>
              <a:t> A custom Kubernetes scheduling plugin that jointly evaluates two signals before placing an AI workload: the external grid's carbon intensity and the internal node's real thermal/power state. Unlike prior carbon-aware schedulers (which are grid-blind to hardware heat) or thermal-aware schedulers (which ignore the grid entirely), this is the first to unify both inside the Kubernetes Scheduling Framework itself, validated on physical hardware rather than simulation.</a:t>
            </a:r>
          </a:p>
          <a:p>
            <a:pPr algn="just">
              <a:lnSpc>
                <a:spcPts val="3276"/>
              </a:lnSpc>
            </a:pPr>
          </a:p>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 External Grid Carbon Forecasting:</a:t>
            </a:r>
            <a:r>
              <a:rPr lang="en-US" sz="2340">
                <a:solidFill>
                  <a:srgbClr val="2D2D2D"/>
                </a:solidFill>
                <a:latin typeface="Poppins"/>
                <a:ea typeface="Poppins"/>
                <a:cs typeface="Poppins"/>
                <a:sym typeface="Poppins"/>
              </a:rPr>
              <a:t> A containerized Python LSTM trained on historical grid time-series data, predicting regional carbon intensity 24 hours ahead. Live signal ingestion uses the Electricity Maps API (academic-tier access via institutional email for full historical/forecast data); where regional coverage is thin, Ember and POSOCO/CEA generation data serve as the ground-truth validation source.</a:t>
            </a:r>
          </a:p>
          <a:p>
            <a:pPr algn="just">
              <a:lnSpc>
                <a:spcPts val="3276"/>
              </a:lnSpc>
            </a:pPr>
          </a:p>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Internal Node-Level Metrics:</a:t>
            </a:r>
            <a:r>
              <a:rPr lang="en-US" sz="2340">
                <a:solidFill>
                  <a:srgbClr val="2D2D2D"/>
                </a:solidFill>
                <a:latin typeface="Poppins"/>
                <a:ea typeface="Poppins"/>
                <a:cs typeface="Poppins"/>
                <a:sym typeface="Poppins"/>
              </a:rPr>
              <a:t> Rather than Kepler — which depends on Intel RAPL/ACPI counters that don't exist on ARM — thermal and power data is read directly from each Pi's own interfaces: </a:t>
            </a:r>
          </a:p>
          <a:p>
            <a:pPr algn="just" marL="1010412" indent="-336804" lvl="2">
              <a:lnSpc>
                <a:spcPts val="3276"/>
              </a:lnSpc>
              <a:buFont typeface="Arial"/>
              <a:buChar char="⚬"/>
            </a:pPr>
            <a:r>
              <a:rPr lang="en-US" b="true" sz="2340">
                <a:solidFill>
                  <a:srgbClr val="2D2D2D"/>
                </a:solidFill>
                <a:latin typeface="Poppins Bold"/>
                <a:ea typeface="Poppins Bold"/>
                <a:cs typeface="Poppins Bold"/>
                <a:sym typeface="Poppins Bold"/>
              </a:rPr>
              <a:t>vcgencmd measure_temp</a:t>
            </a:r>
            <a:r>
              <a:rPr lang="en-US" sz="2340">
                <a:solidFill>
                  <a:srgbClr val="2D2D2D"/>
                </a:solidFill>
                <a:latin typeface="Poppins"/>
                <a:ea typeface="Poppins"/>
                <a:cs typeface="Poppins"/>
                <a:sym typeface="Poppins"/>
              </a:rPr>
              <a:t> for temperature (all models)</a:t>
            </a:r>
          </a:p>
          <a:p>
            <a:pPr algn="just" marL="1010412" indent="-336804" lvl="2">
              <a:lnSpc>
                <a:spcPts val="3276"/>
              </a:lnSpc>
              <a:buFont typeface="Arial"/>
              <a:buChar char="⚬"/>
            </a:pPr>
            <a:r>
              <a:rPr lang="en-US" b="true" sz="2340">
                <a:solidFill>
                  <a:srgbClr val="2D2D2D"/>
                </a:solidFill>
                <a:latin typeface="Poppins Bold"/>
                <a:ea typeface="Poppins Bold"/>
                <a:cs typeface="Poppins Bold"/>
                <a:sym typeface="Poppins Bold"/>
              </a:rPr>
              <a:t>vcgencmd pmic_read_adc</a:t>
            </a:r>
            <a:r>
              <a:rPr lang="en-US" sz="2340">
                <a:solidFill>
                  <a:srgbClr val="2D2D2D"/>
                </a:solidFill>
                <a:latin typeface="Poppins"/>
                <a:ea typeface="Poppins"/>
                <a:cs typeface="Poppins"/>
                <a:sym typeface="Poppins"/>
              </a:rPr>
              <a:t> for real per-rail voltage/current on Pi 5 (giving true watts via P=V×I with no extra hardware). Where Pi 4 boards are used, an inline INA219 I²C sensor provides the same power data. A lightweight custom exporter pushes this to Prometheus.</a:t>
            </a:r>
          </a:p>
          <a:p>
            <a:pPr algn="just">
              <a:lnSpc>
                <a:spcPts val="3276"/>
              </a:lnSpc>
            </a:pPr>
          </a:p>
          <a:p>
            <a:pPr algn="just">
              <a:lnSpc>
                <a:spcPts val="3276"/>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46365" y="1864345"/>
            <a:ext cx="16412935" cy="6150864"/>
          </a:xfrm>
          <a:prstGeom prst="rect">
            <a:avLst/>
          </a:prstGeom>
        </p:spPr>
        <p:txBody>
          <a:bodyPr anchor="t" rtlCol="false" tIns="0" lIns="0" bIns="0" rIns="0">
            <a:spAutoFit/>
          </a:bodyPr>
          <a:lstStyle/>
          <a:p>
            <a:pPr algn="just">
              <a:lnSpc>
                <a:spcPts val="3276"/>
              </a:lnSpc>
            </a:pPr>
          </a:p>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D</a:t>
            </a:r>
            <a:r>
              <a:rPr lang="en-US" b="true" sz="2340">
                <a:solidFill>
                  <a:srgbClr val="2D2D2D"/>
                </a:solidFill>
                <a:latin typeface="Poppins Bold"/>
                <a:ea typeface="Poppins Bold"/>
                <a:cs typeface="Poppins Bold"/>
                <a:sym typeface="Poppins Bold"/>
              </a:rPr>
              <a:t>ynamic AI Precision Scaling (Quantization):</a:t>
            </a:r>
            <a:r>
              <a:rPr lang="en-US" sz="2340">
                <a:solidFill>
                  <a:srgbClr val="2D2D2D"/>
                </a:solidFill>
                <a:latin typeface="Poppins"/>
                <a:ea typeface="Poppins"/>
                <a:cs typeface="Poppins"/>
                <a:sym typeface="Poppins"/>
              </a:rPr>
              <a:t> A runtime payload adjuster for latency-sensitive jobs that can't be paused or migrated. When a node's thermal or carbon state crosses an unsafe threshold, the model is dropped to lower precision instead of blocking the task — but with an explicit criticality/accuracy-floor gate that refuses to quantize below a set threshold for mission-critical inference. </a:t>
            </a:r>
          </a:p>
          <a:p>
            <a:pPr algn="just">
              <a:lnSpc>
                <a:spcPts val="3276"/>
              </a:lnSpc>
            </a:pPr>
          </a:p>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Physical Edg</a:t>
            </a:r>
            <a:r>
              <a:rPr lang="en-US" b="true" sz="2340">
                <a:solidFill>
                  <a:srgbClr val="2D2D2D"/>
                </a:solidFill>
                <a:latin typeface="Poppins Bold"/>
                <a:ea typeface="Poppins Bold"/>
                <a:cs typeface="Poppins Bold"/>
                <a:sym typeface="Poppins Bold"/>
              </a:rPr>
              <a:t>e-Computing Validation: </a:t>
            </a:r>
            <a:r>
              <a:rPr lang="en-US" sz="2340">
                <a:solidFill>
                  <a:srgbClr val="2D2D2D"/>
                </a:solidFill>
                <a:latin typeface="Poppins"/>
                <a:ea typeface="Poppins"/>
                <a:cs typeface="Poppins"/>
                <a:sym typeface="Poppins"/>
              </a:rPr>
              <a:t>Tested on a real 3-node Raspberry Pi K3s cluster — not CloudSim or another simulator — proving the scheduler's own overhead doesn't cancel out the energy it saves.</a:t>
            </a:r>
          </a:p>
          <a:p>
            <a:pPr algn="just">
              <a:lnSpc>
                <a:spcPts val="3276"/>
              </a:lnSpc>
            </a:pPr>
          </a:p>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Op</a:t>
            </a:r>
            <a:r>
              <a:rPr lang="en-US" b="true" sz="2340">
                <a:solidFill>
                  <a:srgbClr val="2D2D2D"/>
                </a:solidFill>
                <a:latin typeface="Poppins Bold"/>
                <a:ea typeface="Poppins Bold"/>
                <a:cs typeface="Poppins Bold"/>
                <a:sym typeface="Poppins Bold"/>
              </a:rPr>
              <a:t>en-Source Kubernetes Plugin Architecture:</a:t>
            </a:r>
            <a:r>
              <a:rPr lang="en-US" sz="2340">
                <a:solidFill>
                  <a:srgbClr val="2D2D2D"/>
                </a:solidFill>
                <a:latin typeface="Poppins"/>
                <a:ea typeface="Poppins"/>
                <a:cs typeface="Poppins"/>
                <a:sym typeface="Poppins"/>
              </a:rPr>
              <a:t> Go-based plugin, Apache 2.0, packaged with Helm chart + YAML manifests for any CNCF-conformant cluster.</a:t>
            </a:r>
          </a:p>
          <a:p>
            <a:pPr algn="just">
              <a:lnSpc>
                <a:spcPts val="3276"/>
              </a:lnSpc>
            </a:pPr>
          </a:p>
          <a:p>
            <a:pPr algn="just" marL="505206" indent="-252603" lvl="1">
              <a:lnSpc>
                <a:spcPts val="3276"/>
              </a:lnSpc>
              <a:buFont typeface="Arial"/>
              <a:buChar char="•"/>
            </a:pPr>
            <a:r>
              <a:rPr lang="en-US" b="true" sz="2340">
                <a:solidFill>
                  <a:srgbClr val="2D2D2D"/>
                </a:solidFill>
                <a:latin typeface="Poppins Bold"/>
                <a:ea typeface="Poppins Bold"/>
                <a:cs typeface="Poppins Bold"/>
                <a:sym typeface="Poppins Bold"/>
              </a:rPr>
              <a:t>Live Green Observability Dashboard:</a:t>
            </a:r>
            <a:r>
              <a:rPr lang="en-US" sz="2340">
                <a:solidFill>
                  <a:srgbClr val="2D2D2D"/>
                </a:solidFill>
                <a:latin typeface="Poppins"/>
                <a:ea typeface="Poppins"/>
                <a:cs typeface="Poppins"/>
                <a:sym typeface="Poppins"/>
              </a:rPr>
              <a:t> Prometheus + Grafana, visualizing carbon reduction, thermal deviation, and net energy balance in real time.</a:t>
            </a:r>
          </a:p>
          <a:p>
            <a:pPr algn="just">
              <a:lnSpc>
                <a:spcPts val="3276"/>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26669" y="599082"/>
            <a:ext cx="13408551" cy="1386972"/>
          </a:xfrm>
          <a:prstGeom prst="rect">
            <a:avLst/>
          </a:prstGeom>
        </p:spPr>
        <p:txBody>
          <a:bodyPr anchor="t" rtlCol="false" tIns="0" lIns="0" bIns="0" rIns="0">
            <a:spAutoFit/>
          </a:bodyPr>
          <a:lstStyle/>
          <a:p>
            <a:pPr algn="l">
              <a:lnSpc>
                <a:spcPts val="10530"/>
              </a:lnSpc>
            </a:pPr>
            <a:r>
              <a:rPr lang="en-US" sz="10530">
                <a:solidFill>
                  <a:srgbClr val="2D2D2D"/>
                </a:solidFill>
                <a:latin typeface="Hero Bold"/>
                <a:ea typeface="Hero Bold"/>
                <a:cs typeface="Hero Bold"/>
                <a:sym typeface="Hero Bold"/>
              </a:rPr>
              <a:t>METHODOLOGY</a:t>
            </a:r>
          </a:p>
        </p:txBody>
      </p:sp>
      <p:sp>
        <p:nvSpPr>
          <p:cNvPr name="TextBox 3" id="3"/>
          <p:cNvSpPr txBox="true"/>
          <p:nvPr/>
        </p:nvSpPr>
        <p:spPr>
          <a:xfrm rot="0">
            <a:off x="1028700" y="2056693"/>
            <a:ext cx="16368358" cy="9024268"/>
          </a:xfrm>
          <a:prstGeom prst="rect">
            <a:avLst/>
          </a:prstGeom>
        </p:spPr>
        <p:txBody>
          <a:bodyPr anchor="t" rtlCol="false" tIns="0" lIns="0" bIns="0" rIns="0">
            <a:spAutoFit/>
          </a:bodyPr>
          <a:lstStyle/>
          <a:p>
            <a:pPr algn="just">
              <a:lnSpc>
                <a:spcPts val="2960"/>
              </a:lnSpc>
            </a:pPr>
            <a:r>
              <a:rPr lang="en-US" sz="2114" b="true">
                <a:solidFill>
                  <a:srgbClr val="2D2D2D"/>
                </a:solidFill>
                <a:latin typeface="Poppins Bold"/>
                <a:ea typeface="Poppins Bold"/>
                <a:cs typeface="Poppins Bold"/>
                <a:sym typeface="Poppins Bold"/>
              </a:rPr>
              <a:t>1: Building the </a:t>
            </a:r>
            <a:r>
              <a:rPr lang="en-US" sz="2114" b="true">
                <a:solidFill>
                  <a:srgbClr val="2D2D2D"/>
                </a:solidFill>
                <a:latin typeface="Poppins Bold"/>
                <a:ea typeface="Poppins Bold"/>
                <a:cs typeface="Poppins Bold"/>
                <a:sym typeface="Poppins Bold"/>
              </a:rPr>
              <a:t>Physical Edge Micro-Cloud</a:t>
            </a:r>
          </a:p>
          <a:p>
            <a:pPr algn="just">
              <a:lnSpc>
                <a:spcPts val="2960"/>
              </a:lnSpc>
            </a:pPr>
          </a:p>
          <a:p>
            <a:pPr algn="just">
              <a:lnSpc>
                <a:spcPts val="2960"/>
              </a:lnSpc>
            </a:pPr>
            <a:r>
              <a:rPr lang="en-US" sz="2114">
                <a:solidFill>
                  <a:srgbClr val="2D2D2D"/>
                </a:solidFill>
                <a:latin typeface="Poppins"/>
                <a:ea typeface="Poppins"/>
                <a:cs typeface="Poppins"/>
                <a:sym typeface="Poppins"/>
              </a:rPr>
              <a:t>Before writing the scheduling logic, we need a physical environment that actually generates heat and represents a real-world edge computing scenario. </a:t>
            </a:r>
          </a:p>
          <a:p>
            <a:pPr algn="just" marL="456568" indent="-228284" lvl="1">
              <a:lnSpc>
                <a:spcPts val="2960"/>
              </a:lnSpc>
              <a:buFont typeface="Arial"/>
              <a:buChar char="•"/>
            </a:pPr>
            <a:r>
              <a:rPr lang="en-US" sz="2114">
                <a:solidFill>
                  <a:srgbClr val="2D2D2D"/>
                </a:solidFill>
                <a:latin typeface="Poppins"/>
                <a:ea typeface="Poppins"/>
                <a:cs typeface="Poppins"/>
                <a:sym typeface="Poppins"/>
              </a:rPr>
              <a:t>Setting up a 3-node cluster of single-board computers. You will install a lightweight version of Kubernetes designed specifically for edge devices to manage your containers. </a:t>
            </a:r>
          </a:p>
          <a:p>
            <a:pPr algn="just" marL="456568" indent="-228284" lvl="1">
              <a:lnSpc>
                <a:spcPts val="2960"/>
              </a:lnSpc>
              <a:buFont typeface="Arial"/>
              <a:buChar char="•"/>
            </a:pPr>
            <a:r>
              <a:rPr lang="en-US" sz="2114">
                <a:solidFill>
                  <a:srgbClr val="2D2D2D"/>
                </a:solidFill>
                <a:latin typeface="Poppins"/>
                <a:ea typeface="Poppins"/>
                <a:cs typeface="Poppins"/>
                <a:sym typeface="Poppins"/>
              </a:rPr>
              <a:t>The Tech Stack:</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Hardware: 3x Raspberry Pi (Model 4 or 5). </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OS: Ubuntu Server (or Raspberry Pi OS).</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Container Orchestration: K3s (Lightweight Kubernetes by Rancher). </a:t>
            </a:r>
          </a:p>
          <a:p>
            <a:pPr algn="just">
              <a:lnSpc>
                <a:spcPts val="2960"/>
              </a:lnSpc>
            </a:pPr>
          </a:p>
          <a:p>
            <a:pPr algn="just">
              <a:lnSpc>
                <a:spcPts val="2960"/>
              </a:lnSpc>
            </a:pPr>
            <a:r>
              <a:rPr lang="en-US" sz="2114" b="true">
                <a:solidFill>
                  <a:srgbClr val="2D2D2D"/>
                </a:solidFill>
                <a:latin typeface="Poppins Bold"/>
                <a:ea typeface="Poppins Bold"/>
                <a:cs typeface="Poppins Bold"/>
                <a:sym typeface="Poppins Bold"/>
              </a:rPr>
              <a:t>2: External Grid Carbon Forecasting (The "Spatio-Temporal" Part)</a:t>
            </a:r>
          </a:p>
          <a:p>
            <a:pPr algn="just">
              <a:lnSpc>
                <a:spcPts val="2960"/>
              </a:lnSpc>
            </a:pPr>
            <a:r>
              <a:rPr lang="en-US" sz="2114">
                <a:solidFill>
                  <a:srgbClr val="2D2D2D"/>
                </a:solidFill>
                <a:latin typeface="Poppins"/>
                <a:ea typeface="Poppins"/>
                <a:cs typeface="Poppins"/>
                <a:sym typeface="Poppins"/>
              </a:rPr>
              <a:t>Our </a:t>
            </a:r>
            <a:r>
              <a:rPr lang="en-US" sz="2114">
                <a:solidFill>
                  <a:srgbClr val="2D2D2D"/>
                </a:solidFill>
                <a:latin typeface="Poppins"/>
                <a:ea typeface="Poppins"/>
                <a:cs typeface="Poppins"/>
                <a:sym typeface="Poppins"/>
              </a:rPr>
              <a:t>system needs to know when and where the electricity grid is running on clean energy (like solar) versus dirty energy (like coal). </a:t>
            </a:r>
          </a:p>
          <a:p>
            <a:pPr algn="just" marL="456568" indent="-228284" lvl="1">
              <a:lnSpc>
                <a:spcPts val="2960"/>
              </a:lnSpc>
              <a:buFont typeface="Arial"/>
              <a:buChar char="•"/>
            </a:pPr>
            <a:r>
              <a:rPr lang="en-US" sz="2114">
                <a:solidFill>
                  <a:srgbClr val="2D2D2D"/>
                </a:solidFill>
                <a:latin typeface="Poppins"/>
                <a:ea typeface="Poppins"/>
                <a:cs typeface="Poppins"/>
                <a:sym typeface="Poppins"/>
              </a:rPr>
              <a:t>We will train a time-series machine learning model to predict the grid's carbon intensity 24 hours into the future. This model will be wrapped in a container and run continuously, pulling live data from the internet. </a:t>
            </a:r>
          </a:p>
          <a:p>
            <a:pPr algn="just" marL="456568" indent="-228284" lvl="1">
              <a:lnSpc>
                <a:spcPts val="2960"/>
              </a:lnSpc>
              <a:buFont typeface="Arial"/>
              <a:buChar char="•"/>
            </a:pPr>
            <a:r>
              <a:rPr lang="en-US" sz="2114">
                <a:solidFill>
                  <a:srgbClr val="2D2D2D"/>
                </a:solidFill>
                <a:latin typeface="Poppins"/>
                <a:ea typeface="Poppins"/>
                <a:cs typeface="Poppins"/>
                <a:sym typeface="Poppins"/>
              </a:rPr>
              <a:t>The Tech Stack:</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Programming Language: Python. </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Machine Learning Model: LSTM (Long Short-Term Memory) network. </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External Data APIs: ElectricityMap.</a:t>
            </a:r>
          </a:p>
          <a:p>
            <a:pPr algn="just" marL="913135" indent="-304378" lvl="2">
              <a:lnSpc>
                <a:spcPts val="2960"/>
              </a:lnSpc>
              <a:buFont typeface="Arial"/>
              <a:buChar char="⚬"/>
            </a:pPr>
            <a:r>
              <a:rPr lang="en-US" sz="2114">
                <a:solidFill>
                  <a:srgbClr val="2D2D2D"/>
                </a:solidFill>
                <a:latin typeface="Poppins"/>
                <a:ea typeface="Poppins"/>
                <a:cs typeface="Poppins"/>
                <a:sym typeface="Poppins"/>
              </a:rPr>
              <a:t>Historical Dataset: Ember's India Electricity Data Explorer dataset.</a:t>
            </a:r>
          </a:p>
          <a:p>
            <a:pPr algn="just">
              <a:lnSpc>
                <a:spcPts val="2960"/>
              </a:lnSpc>
            </a:pPr>
          </a:p>
          <a:p>
            <a:pPr algn="just">
              <a:lnSpc>
                <a:spcPts val="2960"/>
              </a:lnSpc>
            </a:pPr>
          </a:p>
          <a:p>
            <a:pPr algn="just">
              <a:lnSpc>
                <a:spcPts val="2960"/>
              </a:lnSpc>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5256" y="971550"/>
            <a:ext cx="16104044" cy="8286750"/>
          </a:xfrm>
          <a:prstGeom prst="rect">
            <a:avLst/>
          </a:prstGeom>
        </p:spPr>
        <p:txBody>
          <a:bodyPr anchor="t" rtlCol="false" tIns="0" lIns="0" bIns="0" rIns="0">
            <a:spAutoFit/>
          </a:bodyPr>
          <a:lstStyle/>
          <a:p>
            <a:pPr algn="just">
              <a:lnSpc>
                <a:spcPts val="2780"/>
              </a:lnSpc>
            </a:pPr>
            <a:r>
              <a:rPr lang="en-US" sz="1986" b="true">
                <a:solidFill>
                  <a:srgbClr val="2D2D2D"/>
                </a:solidFill>
                <a:latin typeface="Poppins Bold"/>
                <a:ea typeface="Poppins Bold"/>
                <a:cs typeface="Poppins Bold"/>
                <a:sym typeface="Poppins Bold"/>
              </a:rPr>
              <a:t>3: Inte</a:t>
            </a:r>
            <a:r>
              <a:rPr lang="en-US" sz="1986" b="true">
                <a:solidFill>
                  <a:srgbClr val="2D2D2D"/>
                </a:solidFill>
                <a:latin typeface="Poppins Bold"/>
                <a:ea typeface="Poppins Bold"/>
                <a:cs typeface="Poppins Bold"/>
                <a:sym typeface="Poppins Bold"/>
              </a:rPr>
              <a:t>rnal Heat &amp; Power Metrics (The "Thermal" Part)</a:t>
            </a:r>
          </a:p>
          <a:p>
            <a:pPr algn="just">
              <a:lnSpc>
                <a:spcPts val="2780"/>
              </a:lnSpc>
            </a:pPr>
          </a:p>
          <a:p>
            <a:pPr algn="just">
              <a:lnSpc>
                <a:spcPts val="2780"/>
              </a:lnSpc>
            </a:pPr>
            <a:r>
              <a:rPr lang="en-US" sz="1986">
                <a:solidFill>
                  <a:srgbClr val="2D2D2D"/>
                </a:solidFill>
                <a:latin typeface="Poppins"/>
                <a:ea typeface="Poppins"/>
                <a:cs typeface="Poppins"/>
                <a:sym typeface="Poppins"/>
              </a:rPr>
              <a:t>To prevent your Raspberry Pis from overheating, the system needs to co</a:t>
            </a:r>
            <a:r>
              <a:rPr lang="en-US" sz="1986">
                <a:solidFill>
                  <a:srgbClr val="2D2D2D"/>
                </a:solidFill>
                <a:latin typeface="Poppins"/>
                <a:ea typeface="Poppins"/>
                <a:cs typeface="Poppins"/>
                <a:sym typeface="Poppins"/>
              </a:rPr>
              <a:t>nstantly monitor the exact temperature and power draw of the chips without slowing the computer down. </a:t>
            </a:r>
          </a:p>
          <a:p>
            <a:pPr algn="just" marL="428828" indent="-214414" lvl="1">
              <a:lnSpc>
                <a:spcPts val="2780"/>
              </a:lnSpc>
              <a:buFont typeface="Arial"/>
              <a:buChar char="•"/>
            </a:pPr>
            <a:r>
              <a:rPr lang="en-US" sz="1986">
                <a:solidFill>
                  <a:srgbClr val="2D2D2D"/>
                </a:solidFill>
                <a:latin typeface="Poppins"/>
                <a:ea typeface="Poppins"/>
                <a:cs typeface="Poppins"/>
                <a:sym typeface="Poppins"/>
              </a:rPr>
              <a:t>We will read hardware sensors directly through the Pi's own built-in interfaces. </a:t>
            </a:r>
          </a:p>
          <a:p>
            <a:pPr algn="just" marL="428828" indent="-214414" lvl="1">
              <a:lnSpc>
                <a:spcPts val="2780"/>
              </a:lnSpc>
              <a:buFont typeface="Arial"/>
              <a:buChar char="•"/>
            </a:pPr>
            <a:r>
              <a:rPr lang="en-US" sz="1986">
                <a:solidFill>
                  <a:srgbClr val="2D2D2D"/>
                </a:solidFill>
                <a:latin typeface="Poppins"/>
                <a:ea typeface="Poppins"/>
                <a:cs typeface="Poppins"/>
                <a:sym typeface="Poppins"/>
              </a:rPr>
              <a:t>The Tech Stack:</a:t>
            </a:r>
          </a:p>
          <a:p>
            <a:pPr algn="just" marL="857656" indent="-285885" lvl="2">
              <a:lnSpc>
                <a:spcPts val="2780"/>
              </a:lnSpc>
              <a:buFont typeface="Arial"/>
              <a:buChar char="⚬"/>
            </a:pPr>
            <a:r>
              <a:rPr lang="en-US" b="true" sz="1986">
                <a:solidFill>
                  <a:srgbClr val="2D2D2D"/>
                </a:solidFill>
                <a:latin typeface="Poppins Bold"/>
                <a:ea typeface="Poppins Bold"/>
                <a:cs typeface="Poppins Bold"/>
                <a:sym typeface="Poppins Bold"/>
              </a:rPr>
              <a:t>Temperatu</a:t>
            </a:r>
            <a:r>
              <a:rPr lang="en-US" b="true" sz="1986">
                <a:solidFill>
                  <a:srgbClr val="2D2D2D"/>
                </a:solidFill>
                <a:latin typeface="Poppins Bold"/>
                <a:ea typeface="Poppins Bold"/>
                <a:cs typeface="Poppins Bold"/>
                <a:sym typeface="Poppins Bold"/>
              </a:rPr>
              <a:t>re:</a:t>
            </a:r>
            <a:r>
              <a:rPr lang="en-US" sz="1986">
                <a:solidFill>
                  <a:srgbClr val="2D2D2D"/>
                </a:solidFill>
                <a:latin typeface="Poppins"/>
                <a:ea typeface="Poppins"/>
                <a:cs typeface="Poppins"/>
                <a:sym typeface="Poppins"/>
              </a:rPr>
              <a:t> vcgencmd measure_temp (built into all Raspberry Pi models, no extra hardware needed)</a:t>
            </a:r>
          </a:p>
          <a:p>
            <a:pPr algn="just" marL="857656" indent="-285885" lvl="2">
              <a:lnSpc>
                <a:spcPts val="2780"/>
              </a:lnSpc>
              <a:buFont typeface="Arial"/>
              <a:buChar char="⚬"/>
            </a:pPr>
            <a:r>
              <a:rPr lang="en-US" b="true" sz="1986">
                <a:solidFill>
                  <a:srgbClr val="2D2D2D"/>
                </a:solidFill>
                <a:latin typeface="Poppins Bold"/>
                <a:ea typeface="Poppins Bold"/>
                <a:cs typeface="Poppins Bold"/>
                <a:sym typeface="Poppins Bold"/>
              </a:rPr>
              <a:t>Power:</a:t>
            </a:r>
            <a:r>
              <a:rPr lang="en-US" sz="1986">
                <a:solidFill>
                  <a:srgbClr val="2D2D2D"/>
                </a:solidFill>
                <a:latin typeface="Poppins"/>
                <a:ea typeface="Poppins"/>
                <a:cs typeface="Poppins"/>
                <a:sym typeface="Poppins"/>
              </a:rPr>
              <a:t> vcgencmd pmic_read_adc on Raspberry Pi 5 (reads real per-rail voltage and current directly from the onboard PMIC, giving true watts with no extra parts); an INA219 I²C sensor (~$5–10 per node) as the Raspberry Pi 4 fallback, since Pi 4 doesn't expose the same PMIC data</a:t>
            </a:r>
          </a:p>
          <a:p>
            <a:pPr algn="just" marL="857656" indent="-285885" lvl="2">
              <a:lnSpc>
                <a:spcPts val="2780"/>
              </a:lnSpc>
              <a:buFont typeface="Arial"/>
              <a:buChar char="⚬"/>
            </a:pPr>
            <a:r>
              <a:rPr lang="en-US" b="true" sz="1986">
                <a:solidFill>
                  <a:srgbClr val="2D2D2D"/>
                </a:solidFill>
                <a:latin typeface="Poppins Bold"/>
                <a:ea typeface="Poppins Bold"/>
                <a:cs typeface="Poppins Bold"/>
                <a:sym typeface="Poppins Bold"/>
              </a:rPr>
              <a:t>Exporter:</a:t>
            </a:r>
            <a:r>
              <a:rPr lang="en-US" sz="1986">
                <a:solidFill>
                  <a:srgbClr val="2D2D2D"/>
                </a:solidFill>
                <a:latin typeface="Poppins"/>
                <a:ea typeface="Poppins"/>
                <a:cs typeface="Poppins"/>
                <a:sym typeface="Poppins"/>
              </a:rPr>
              <a:t> a custom lightweight Go or Python script that reads these values and pushes them to Prometheus.</a:t>
            </a:r>
          </a:p>
          <a:p>
            <a:pPr algn="just">
              <a:lnSpc>
                <a:spcPts val="2780"/>
              </a:lnSpc>
            </a:pPr>
          </a:p>
          <a:p>
            <a:pPr algn="just">
              <a:lnSpc>
                <a:spcPts val="2780"/>
              </a:lnSpc>
            </a:pPr>
            <a:r>
              <a:rPr lang="en-US" sz="1986" b="true">
                <a:solidFill>
                  <a:srgbClr val="2D2D2D"/>
                </a:solidFill>
                <a:latin typeface="Poppins Bold"/>
                <a:ea typeface="Poppins Bold"/>
                <a:cs typeface="Poppins Bold"/>
                <a:sym typeface="Poppins Bold"/>
              </a:rPr>
              <a:t>4: The Custom Orchestrator Plugin (The Brain)</a:t>
            </a:r>
          </a:p>
          <a:p>
            <a:pPr algn="just">
              <a:lnSpc>
                <a:spcPts val="2780"/>
              </a:lnSpc>
            </a:pPr>
          </a:p>
          <a:p>
            <a:pPr algn="just">
              <a:lnSpc>
                <a:spcPts val="2780"/>
              </a:lnSpc>
            </a:pPr>
            <a:r>
              <a:rPr lang="en-US" sz="1986">
                <a:solidFill>
                  <a:srgbClr val="2D2D2D"/>
                </a:solidFill>
                <a:latin typeface="Poppins"/>
                <a:ea typeface="Poppins"/>
                <a:cs typeface="Poppins"/>
                <a:sym typeface="Poppins"/>
              </a:rPr>
              <a:t>This is the core software of your project. It acts as the traffic controller that looks at both the external grid forecast and the internal heat telemetry before assigning an AI task. </a:t>
            </a:r>
          </a:p>
          <a:p>
            <a:pPr algn="just" marL="428828" indent="-214414" lvl="1">
              <a:lnSpc>
                <a:spcPts val="2780"/>
              </a:lnSpc>
              <a:buFont typeface="Arial"/>
              <a:buChar char="•"/>
            </a:pPr>
            <a:r>
              <a:rPr lang="en-US" sz="1986">
                <a:solidFill>
                  <a:srgbClr val="2D2D2D"/>
                </a:solidFill>
                <a:latin typeface="Poppins"/>
                <a:ea typeface="Poppins"/>
                <a:cs typeface="Poppins"/>
                <a:sym typeface="Poppins"/>
              </a:rPr>
              <a:t>We are writing a custom scoring algorithm that plugs directly into the standard Kubernetes scheduler. When a user requests to run an AI model, this algorithm scores all three Raspberry Pis. It finds the node that has the lowest carbon footprint and the coolest physical temperature, and binds the task to that specific node. </a:t>
            </a:r>
          </a:p>
          <a:p>
            <a:pPr algn="just" marL="428828" indent="-214414" lvl="1">
              <a:lnSpc>
                <a:spcPts val="2780"/>
              </a:lnSpc>
              <a:buFont typeface="Arial"/>
              <a:buChar char="•"/>
            </a:pPr>
            <a:r>
              <a:rPr lang="en-US" sz="1986">
                <a:solidFill>
                  <a:srgbClr val="2D2D2D"/>
                </a:solidFill>
                <a:latin typeface="Poppins"/>
                <a:ea typeface="Poppins"/>
                <a:cs typeface="Poppins"/>
                <a:sym typeface="Poppins"/>
              </a:rPr>
              <a:t>The Tech Stack:</a:t>
            </a:r>
          </a:p>
          <a:p>
            <a:pPr algn="just" marL="857656" indent="-285885" lvl="2">
              <a:lnSpc>
                <a:spcPts val="2780"/>
              </a:lnSpc>
              <a:buFont typeface="Arial"/>
              <a:buChar char="⚬"/>
            </a:pPr>
            <a:r>
              <a:rPr lang="en-US" sz="1986">
                <a:solidFill>
                  <a:srgbClr val="2D2D2D"/>
                </a:solidFill>
                <a:latin typeface="Poppins"/>
                <a:ea typeface="Poppins"/>
                <a:cs typeface="Poppins"/>
                <a:sym typeface="Poppins"/>
              </a:rPr>
              <a:t>Programming Language: Go (Golang). </a:t>
            </a:r>
          </a:p>
          <a:p>
            <a:pPr algn="just" marL="857656" indent="-285885" lvl="2">
              <a:lnSpc>
                <a:spcPts val="2780"/>
              </a:lnSpc>
              <a:buFont typeface="Arial"/>
              <a:buChar char="⚬"/>
            </a:pPr>
            <a:r>
              <a:rPr lang="en-US" sz="1986">
                <a:solidFill>
                  <a:srgbClr val="2D2D2D"/>
                </a:solidFill>
                <a:latin typeface="Poppins"/>
                <a:ea typeface="Poppins"/>
                <a:cs typeface="Poppins"/>
                <a:sym typeface="Poppins"/>
              </a:rPr>
              <a:t>Framework: Kubernetes Scheduling Framework (Scheduler Extender/Plugin).</a:t>
            </a:r>
          </a:p>
          <a:p>
            <a:pPr algn="just" marL="857656" indent="-285885" lvl="2">
              <a:lnSpc>
                <a:spcPts val="2780"/>
              </a:lnSpc>
              <a:buFont typeface="Arial"/>
              <a:buChar char="⚬"/>
            </a:pPr>
            <a:r>
              <a:rPr lang="en-US" sz="1986">
                <a:solidFill>
                  <a:srgbClr val="2D2D2D"/>
                </a:solidFill>
                <a:latin typeface="Poppins"/>
                <a:ea typeface="Poppins"/>
                <a:cs typeface="Poppins"/>
                <a:sym typeface="Poppins"/>
              </a:rPr>
              <a:t>Deployment Tools: YAML manifests and Helm charts. </a:t>
            </a:r>
          </a:p>
          <a:p>
            <a:pPr algn="just">
              <a:lnSpc>
                <a:spcPts val="2780"/>
              </a:lnSpc>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62025"/>
            <a:ext cx="16177052" cy="7814564"/>
          </a:xfrm>
          <a:prstGeom prst="rect">
            <a:avLst/>
          </a:prstGeom>
        </p:spPr>
        <p:txBody>
          <a:bodyPr anchor="t" rtlCol="false" tIns="0" lIns="0" bIns="0" rIns="0">
            <a:spAutoFit/>
          </a:bodyPr>
          <a:lstStyle/>
          <a:p>
            <a:pPr algn="just">
              <a:lnSpc>
                <a:spcPts val="2926"/>
              </a:lnSpc>
            </a:pPr>
            <a:r>
              <a:rPr lang="en-US" sz="2090" b="true">
                <a:solidFill>
                  <a:srgbClr val="2D2D2D"/>
                </a:solidFill>
                <a:latin typeface="Poppins Bold"/>
                <a:ea typeface="Poppins Bold"/>
                <a:cs typeface="Poppins Bold"/>
                <a:sym typeface="Poppins Bold"/>
              </a:rPr>
              <a:t>5: Dy</a:t>
            </a:r>
            <a:r>
              <a:rPr lang="en-US" sz="2090" b="true">
                <a:solidFill>
                  <a:srgbClr val="2D2D2D"/>
                </a:solidFill>
                <a:latin typeface="Poppins Bold"/>
                <a:ea typeface="Poppins Bold"/>
                <a:cs typeface="Poppins Bold"/>
                <a:sym typeface="Poppins Bold"/>
              </a:rPr>
              <a:t>namic AI Precision Scaling (The Safety Valve)</a:t>
            </a:r>
          </a:p>
          <a:p>
            <a:pPr algn="just">
              <a:lnSpc>
                <a:spcPts val="2926"/>
              </a:lnSpc>
            </a:pPr>
          </a:p>
          <a:p>
            <a:pPr algn="just">
              <a:lnSpc>
                <a:spcPts val="2926"/>
              </a:lnSpc>
            </a:pPr>
            <a:r>
              <a:rPr lang="en-US" sz="2090">
                <a:solidFill>
                  <a:srgbClr val="2D2D2D"/>
                </a:solidFill>
                <a:latin typeface="Poppins"/>
                <a:ea typeface="Poppins"/>
                <a:cs typeface="Poppins"/>
                <a:sym typeface="Poppins"/>
              </a:rPr>
              <a:t>If</a:t>
            </a:r>
            <a:r>
              <a:rPr lang="en-US" sz="2090">
                <a:solidFill>
                  <a:srgbClr val="2D2D2D"/>
                </a:solidFill>
                <a:latin typeface="Poppins"/>
                <a:ea typeface="Poppins"/>
                <a:cs typeface="Poppins"/>
                <a:sym typeface="Poppins"/>
              </a:rPr>
              <a:t> an AI task is extremely urgent, but all nodes are ru</a:t>
            </a:r>
            <a:r>
              <a:rPr lang="en-US" sz="2090">
                <a:solidFill>
                  <a:srgbClr val="2D2D2D"/>
                </a:solidFill>
                <a:latin typeface="Poppins"/>
                <a:ea typeface="Poppins"/>
                <a:cs typeface="Poppins"/>
                <a:sym typeface="Poppins"/>
              </a:rPr>
              <a:t>nning hot or the grid is heavily polluting, the system needs a backup plan. </a:t>
            </a:r>
          </a:p>
          <a:p>
            <a:pPr algn="just" marL="451232" indent="-225616" lvl="1">
              <a:lnSpc>
                <a:spcPts val="2926"/>
              </a:lnSpc>
              <a:buFont typeface="Arial"/>
              <a:buChar char="•"/>
            </a:pPr>
            <a:r>
              <a:rPr lang="en-US" sz="2090">
                <a:solidFill>
                  <a:srgbClr val="2D2D2D"/>
                </a:solidFill>
                <a:latin typeface="Poppins"/>
                <a:ea typeface="Poppins"/>
                <a:cs typeface="Poppins"/>
                <a:sym typeface="Poppins"/>
              </a:rPr>
              <a:t>We will write a software driver that acts as a runtime adjuster. If it detects unsafe heat or high carbon levels, it automatically "quantizes" the AI model. This means it drops the AI's precision (e.g., from 32-bit floating point to 8-bit integers), which drastically reduces the computing power and heat generated, allowing the task to finish safely. </a:t>
            </a:r>
          </a:p>
          <a:p>
            <a:pPr algn="just" marL="451232" indent="-225616" lvl="1">
              <a:lnSpc>
                <a:spcPts val="2926"/>
              </a:lnSpc>
              <a:buFont typeface="Arial"/>
              <a:buChar char="•"/>
            </a:pPr>
            <a:r>
              <a:rPr lang="en-US" sz="2090">
                <a:solidFill>
                  <a:srgbClr val="2D2D2D"/>
                </a:solidFill>
                <a:latin typeface="Poppins"/>
                <a:ea typeface="Poppins"/>
                <a:cs typeface="Poppins"/>
                <a:sym typeface="Poppins"/>
              </a:rPr>
              <a:t>The Tech Stack:</a:t>
            </a:r>
          </a:p>
          <a:p>
            <a:pPr algn="just" marL="902463" indent="-300821" lvl="2">
              <a:lnSpc>
                <a:spcPts val="2926"/>
              </a:lnSpc>
              <a:buFont typeface="Arial"/>
              <a:buChar char="⚬"/>
            </a:pPr>
            <a:r>
              <a:rPr lang="en-US" sz="2090">
                <a:solidFill>
                  <a:srgbClr val="2D2D2D"/>
                </a:solidFill>
                <a:latin typeface="Poppins"/>
                <a:ea typeface="Poppins"/>
                <a:cs typeface="Poppins"/>
                <a:sym typeface="Poppins"/>
              </a:rPr>
              <a:t>Sc</a:t>
            </a:r>
            <a:r>
              <a:rPr lang="en-US" sz="2090">
                <a:solidFill>
                  <a:srgbClr val="2D2D2D"/>
                </a:solidFill>
                <a:latin typeface="Poppins"/>
                <a:ea typeface="Poppins"/>
                <a:cs typeface="Poppins"/>
                <a:sym typeface="Poppins"/>
              </a:rPr>
              <a:t>ripting: Python. </a:t>
            </a:r>
          </a:p>
          <a:p>
            <a:pPr algn="just" marL="902463" indent="-300821" lvl="2">
              <a:lnSpc>
                <a:spcPts val="2926"/>
              </a:lnSpc>
              <a:buFont typeface="Arial"/>
              <a:buChar char="⚬"/>
            </a:pPr>
            <a:r>
              <a:rPr lang="en-US" sz="2090">
                <a:solidFill>
                  <a:srgbClr val="2D2D2D"/>
                </a:solidFill>
                <a:latin typeface="Poppins"/>
                <a:ea typeface="Poppins"/>
                <a:cs typeface="Poppins"/>
                <a:sym typeface="Poppins"/>
              </a:rPr>
              <a:t>AI </a:t>
            </a:r>
            <a:r>
              <a:rPr lang="en-US" sz="2090">
                <a:solidFill>
                  <a:srgbClr val="2D2D2D"/>
                </a:solidFill>
                <a:latin typeface="Poppins"/>
                <a:ea typeface="Poppins"/>
                <a:cs typeface="Poppins"/>
                <a:sym typeface="Poppins"/>
              </a:rPr>
              <a:t>Frameworks: PyTorch or ONNX (for handling model quantization)</a:t>
            </a:r>
          </a:p>
          <a:p>
            <a:pPr algn="just">
              <a:lnSpc>
                <a:spcPts val="2926"/>
              </a:lnSpc>
            </a:pPr>
          </a:p>
          <a:p>
            <a:pPr algn="just">
              <a:lnSpc>
                <a:spcPts val="2926"/>
              </a:lnSpc>
            </a:pPr>
          </a:p>
          <a:p>
            <a:pPr algn="just">
              <a:lnSpc>
                <a:spcPts val="2926"/>
              </a:lnSpc>
            </a:pPr>
            <a:r>
              <a:rPr lang="en-US" sz="2090" b="true">
                <a:solidFill>
                  <a:srgbClr val="2D2D2D"/>
                </a:solidFill>
                <a:latin typeface="Poppins Bold"/>
                <a:ea typeface="Poppins Bold"/>
                <a:cs typeface="Poppins Bold"/>
                <a:sym typeface="Poppins Bold"/>
              </a:rPr>
              <a:t>6: Green Observability (The Live Monitor)</a:t>
            </a:r>
          </a:p>
          <a:p>
            <a:pPr algn="just">
              <a:lnSpc>
                <a:spcPts val="2926"/>
              </a:lnSpc>
            </a:pPr>
          </a:p>
          <a:p>
            <a:pPr algn="just">
              <a:lnSpc>
                <a:spcPts val="2926"/>
              </a:lnSpc>
            </a:pPr>
            <a:r>
              <a:rPr lang="en-US" sz="2090">
                <a:solidFill>
                  <a:srgbClr val="2D2D2D"/>
                </a:solidFill>
                <a:latin typeface="Poppins"/>
                <a:ea typeface="Poppins"/>
                <a:cs typeface="Poppins"/>
                <a:sym typeface="Poppins"/>
              </a:rPr>
              <a:t>We need to visually prove that your system is saving energy and keeping the hardware cool. </a:t>
            </a:r>
          </a:p>
          <a:p>
            <a:pPr algn="just" marL="451232" indent="-225616" lvl="1">
              <a:lnSpc>
                <a:spcPts val="2926"/>
              </a:lnSpc>
              <a:buFont typeface="Arial"/>
              <a:buChar char="•"/>
            </a:pPr>
            <a:r>
              <a:rPr lang="en-US" sz="2090">
                <a:solidFill>
                  <a:srgbClr val="2D2D2D"/>
                </a:solidFill>
                <a:latin typeface="Poppins"/>
                <a:ea typeface="Poppins"/>
                <a:cs typeface="Poppins"/>
                <a:sym typeface="Poppins"/>
              </a:rPr>
              <a:t>We will set up a data collection pipeline that gathers all the metrics from Kepler and your custom scheduler, and then displays them on a live, interactive web dashboard. </a:t>
            </a:r>
          </a:p>
          <a:p>
            <a:pPr algn="just" marL="451232" indent="-225616" lvl="1">
              <a:lnSpc>
                <a:spcPts val="2926"/>
              </a:lnSpc>
              <a:buFont typeface="Arial"/>
              <a:buChar char="•"/>
            </a:pPr>
            <a:r>
              <a:rPr lang="en-US" sz="2090">
                <a:solidFill>
                  <a:srgbClr val="2D2D2D"/>
                </a:solidFill>
                <a:latin typeface="Poppins"/>
                <a:ea typeface="Poppins"/>
                <a:cs typeface="Poppins"/>
                <a:sym typeface="Poppins"/>
              </a:rPr>
              <a:t>The Tech Stack:</a:t>
            </a:r>
          </a:p>
          <a:p>
            <a:pPr algn="just" marL="902463" indent="-300821" lvl="2">
              <a:lnSpc>
                <a:spcPts val="2926"/>
              </a:lnSpc>
              <a:buFont typeface="Arial"/>
              <a:buChar char="⚬"/>
            </a:pPr>
            <a:r>
              <a:rPr lang="en-US" sz="2090">
                <a:solidFill>
                  <a:srgbClr val="2D2D2D"/>
                </a:solidFill>
                <a:latin typeface="Poppins"/>
                <a:ea typeface="Poppins"/>
                <a:cs typeface="Poppins"/>
                <a:sym typeface="Poppins"/>
              </a:rPr>
              <a:t>Metrics Aggregation: Prometheus. </a:t>
            </a:r>
          </a:p>
          <a:p>
            <a:pPr algn="just" marL="902463" indent="-300821" lvl="2">
              <a:lnSpc>
                <a:spcPts val="2926"/>
              </a:lnSpc>
              <a:buFont typeface="Arial"/>
              <a:buChar char="⚬"/>
            </a:pPr>
            <a:r>
              <a:rPr lang="en-US" sz="2090">
                <a:solidFill>
                  <a:srgbClr val="2D2D2D"/>
                </a:solidFill>
                <a:latin typeface="Poppins"/>
                <a:ea typeface="Poppins"/>
                <a:cs typeface="Poppins"/>
                <a:sym typeface="Poppins"/>
              </a:rPr>
              <a:t>Visual Dashboard: Grafana. </a:t>
            </a:r>
          </a:p>
          <a:p>
            <a:pPr algn="just">
              <a:lnSpc>
                <a:spcPts val="2926"/>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895427" y="6172542"/>
            <a:ext cx="6901812" cy="1534715"/>
          </a:xfrm>
          <a:prstGeom prst="rect">
            <a:avLst/>
          </a:prstGeom>
        </p:spPr>
        <p:txBody>
          <a:bodyPr anchor="t" rtlCol="false" tIns="0" lIns="0" bIns="0" rIns="0">
            <a:spAutoFit/>
          </a:bodyPr>
          <a:lstStyle/>
          <a:p>
            <a:pPr algn="l">
              <a:lnSpc>
                <a:spcPts val="4019"/>
              </a:lnSpc>
            </a:pPr>
            <a:r>
              <a:rPr lang="en-US" sz="2871">
                <a:solidFill>
                  <a:srgbClr val="2D2D2D"/>
                </a:solidFill>
                <a:latin typeface="Poppins"/>
                <a:ea typeface="Poppins"/>
                <a:cs typeface="Poppins"/>
                <a:sym typeface="Poppins"/>
              </a:rPr>
              <a:t>Aakhil Subair       -  AM.SC.U4AIE23101</a:t>
            </a:r>
          </a:p>
          <a:p>
            <a:pPr algn="l">
              <a:lnSpc>
                <a:spcPts val="4019"/>
              </a:lnSpc>
            </a:pPr>
            <a:r>
              <a:rPr lang="en-US" sz="2871">
                <a:solidFill>
                  <a:srgbClr val="2D2D2D"/>
                </a:solidFill>
                <a:latin typeface="Poppins"/>
                <a:ea typeface="Poppins"/>
                <a:cs typeface="Poppins"/>
                <a:sym typeface="Poppins"/>
              </a:rPr>
              <a:t>Jaydeep Dileep  -  AM.SC.U4AIE23114</a:t>
            </a:r>
          </a:p>
          <a:p>
            <a:pPr algn="l" marL="0" indent="0" lvl="0">
              <a:lnSpc>
                <a:spcPts val="4019"/>
              </a:lnSpc>
              <a:spcBef>
                <a:spcPct val="0"/>
              </a:spcBef>
            </a:pPr>
            <a:r>
              <a:rPr lang="en-US" sz="2871">
                <a:solidFill>
                  <a:srgbClr val="2D2D2D"/>
                </a:solidFill>
                <a:latin typeface="Poppins"/>
                <a:ea typeface="Poppins"/>
                <a:cs typeface="Poppins"/>
                <a:sym typeface="Poppins"/>
              </a:rPr>
              <a:t>KR Karthik             -  AM.SC.U4AIE23116</a:t>
            </a:r>
          </a:p>
        </p:txBody>
      </p:sp>
      <p:sp>
        <p:nvSpPr>
          <p:cNvPr name="TextBox 3" id="3"/>
          <p:cNvSpPr txBox="true"/>
          <p:nvPr/>
        </p:nvSpPr>
        <p:spPr>
          <a:xfrm rot="0">
            <a:off x="5622854" y="4136717"/>
            <a:ext cx="7042293" cy="1762144"/>
          </a:xfrm>
          <a:prstGeom prst="rect">
            <a:avLst/>
          </a:prstGeom>
        </p:spPr>
        <p:txBody>
          <a:bodyPr anchor="t" rtlCol="false" tIns="0" lIns="0" bIns="0" rIns="0">
            <a:spAutoFit/>
          </a:bodyPr>
          <a:lstStyle/>
          <a:p>
            <a:pPr algn="l">
              <a:lnSpc>
                <a:spcPts val="13125"/>
              </a:lnSpc>
            </a:pPr>
            <a:r>
              <a:rPr lang="en-US" sz="13125">
                <a:solidFill>
                  <a:srgbClr val="2D2D2D"/>
                </a:solidFill>
                <a:latin typeface="Hero Bold"/>
                <a:ea typeface="Hero Bold"/>
                <a:cs typeface="Hero Bold"/>
                <a:sym typeface="Hero Bold"/>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DAHQjLJJ8EQ</dc:identifier>
  <dcterms:modified xsi:type="dcterms:W3CDTF">2011-08-01T06:04:30Z</dcterms:modified>
  <cp:revision>1</cp:revision>
  <dc:title>Green Modern Computing Evolution Presentation</dc:title>
</cp:coreProperties>
</file>